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C4C80B6-1B17-4F80-86F2-B9EAB26BA41F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Zapier pricing page (integration count and plan framing): https://zapier.com/pricing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Zapier brand colors (Zap Orange #FF4F00): https://brand.zapier.com/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F8B541-9565-4E1D-8349-4EE5B05D160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9DBC6C-156A-4A3E-A111-4081C09D492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4D18A6-7475-40D4-B28B-C21755069992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279C55-5117-4815-A84C-11B01D5089F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6FC5F7-15D6-45D3-8AE3-3425AA65591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Zapier pricing page (integration count claim): https://zapier.com/pricing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39D027-424E-4FAF-93BD-DFBF1F4E424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Zapier plans &amp; pricing: https://zapier.com/pricing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1403CE-2A8E-418A-9A18-F72B5CFC2FE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Make pricing page (positioning + 3000+ apps): https://www.make.com/en/pricing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Power Automate pricing: https://www.microsoft.com/en-us/power-platform/products/power-automate/pricing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Workato pricing model: https://www.workato.com/pricing and https://docs.workato.com/pricing.html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Tray.ai pricing page: https://tray.ai/pricing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n8n pricing: https://n8n.io/pricing/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IFTTT integration count (900+): https://ifttt.com/ifttt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ADE5B-7334-47F2-8517-ED024960272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Zapier integrations claim: https://zapier.com/pricing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Make pricing page (3000+ apps): https://www.make.com/en/pricing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Power Automate pricing: https://www.microsoft.com/en-us/power-platform/products/power-automate/pricing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Power Automate licensing background: https://learn.microsoft.com/en-us/power-platform/admin/power-automate-licensing/types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Workato pricing model: https://www.workato.com/pricing and https://docs.workato.com/pricing.html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n8n pricing: https://n8n.io/pricing/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IFTTT integrations (900+): https://ifttt.com/ifttt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C5F036-CB2A-4A21-8A2D-E409B35FF562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A84C53-CBA5-4F05-8C97-CE5083F19C1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2DD498-B009-44D0-9E3E-E96857E2DEF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65C86B-10C5-484E-8B9B-EE0DFE91A10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ED76F9-416D-44B1-85F3-0073B59E07B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4F2D7-A61E-4EF3-9A8A-D51AEDCD878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D411AC-CC74-4A54-AF68-4E5F0A04CD2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AEAAB-492F-44C0-9DF5-2E04C090C57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AB9FB1-5D92-4BE9-A09D-2318FF00B9A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119126-983E-4AE9-A8DC-59FE1F354C7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3228B-D398-4E5F-9447-E3A924F22EC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1CE145-21A9-431D-B6D4-BBAFD05278C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Zapier pricing and navigation to docs: https://zapier.com/pricing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Microsoft Learn Power Automate licensing overview: https://learn.microsoft.com/en-us/power-platform/admin/power-automate-licensing/types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30A695-3369-4603-9DD0-CDE62433E03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- None (closing slide)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[/Sources]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  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A7B42E-D191-4186-99CB-775A55999BC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20113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85800" y="502920"/>
            <a:ext cx="1081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uFillTx/>
                <a:latin typeface="Calibri"/>
              </a:rPr>
              <a:t>Tech Tut (Process Designer)</a:t>
            </a:r>
            <a:endParaRPr b="0" lang="en-US" sz="3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1143000"/>
            <a:ext cx="1081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uFillTx/>
                <a:latin typeface="Calibri"/>
              </a:rPr>
              <a:t>Process Automation with Zapier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1600200"/>
            <a:ext cx="1081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uFillTx/>
                <a:latin typeface="Calibri"/>
              </a:rPr>
              <a:t>Business case: SMU Peer Evaluation System workflow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85800" y="2377440"/>
            <a:ext cx="10819800" cy="35658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60120" y="2606040"/>
            <a:ext cx="102711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Student: Anthony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Course: BIT 4454 — Business Analysis Seminar in IT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Term: Winter 2025/26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Date: [Insert date]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960120" y="4800600"/>
            <a:ext cx="10271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34155"/>
                </a:solidFill>
                <a:uFillTx/>
                <a:latin typeface="Calibri"/>
              </a:rPr>
              <a:t>NOTE: Replace bracketed placeholders and insert screenshots from YOUR live build.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Agenda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Tech Tut — Process Designer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685800" y="822960"/>
            <a:ext cx="10819800" cy="548280"/>
          </a:xfrm>
          <a:prstGeom prst="rect">
            <a:avLst/>
          </a:prstGeom>
          <a:solidFill>
            <a:srgbClr val="ff4f00"/>
          </a:solidFill>
          <a:ln w="12600">
            <a:solidFill>
              <a:srgbClr val="ff4f00"/>
            </a:solidFill>
            <a:round/>
          </a:ln>
          <a:effectLst>
            <a:outerShdw dist="12218" dir="2700000" blurRad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868680" y="941760"/>
            <a:ext cx="1045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Calibri"/>
              </a:rPr>
              <a:t>What we will cover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960120" y="1645920"/>
            <a:ext cx="1024092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Technology area overview (process automation / iPaaS)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Vendor overview: Zapier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Competitors + feature comparison table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Novel business case for the team project (Peer Evaluation System)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Step-by-step build: connections, trigger, actions, test, edit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Operational considerations: security, reliability, governance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Best additional learning resources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Technology Area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1) Describe the technology area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f2937"/>
                </a:solidFill>
                <a:uFillTx/>
                <a:latin typeface="Calibri"/>
              </a:rPr>
              <a:t>Process automation ("iPaaS" / workflow automation)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68680" y="1554480"/>
            <a:ext cx="10972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Connects SaaS apps (e.g., Forms, Sheets, Gmail, Slack) so data moves automatically.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Uses triggers (events) and actions (steps) to orchestrate cross-system business processes.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Reduces manual copy/paste, improves speed, and standardizes handoffs and notifications.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868680" y="4114800"/>
            <a:ext cx="10972440" cy="23313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1051560" y="4251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334155"/>
                </a:solidFill>
                <a:uFillTx/>
                <a:latin typeface="Calibri"/>
              </a:rPr>
              <a:t>Key terms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1051560" y="4617720"/>
            <a:ext cx="10606680" cy="12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Trigger: the event that starts a workflow (e.g., “new form response”).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Action: what happens next (e.g., “add row”, “send email”, “post Slack message”).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Field mapping: connecting source fields to destination fields.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Error handling: alerts, retries, and monitoring.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Why Automation is Needed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1) Describe the technology area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f2937"/>
                </a:solidFill>
                <a:uFillTx/>
                <a:latin typeface="Calibri"/>
              </a:rPr>
              <a:t>Common business problems this solves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868680" y="1600200"/>
            <a:ext cx="5394600" cy="4480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1097280" y="17830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334155"/>
                </a:solidFill>
                <a:uFillTx/>
                <a:latin typeface="Calibri"/>
              </a:rPr>
              <a:t>Before automation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1097280" y="2148840"/>
            <a:ext cx="4937400" cy="12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Manual data entry and duplicate records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Delayed notifications and missed deadlines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Inconsistent formatting and incomplete fields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No audit trail for who submitted what and when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446520" y="1600200"/>
            <a:ext cx="5394600" cy="4480200"/>
          </a:xfrm>
          <a:prstGeom prst="roundRect">
            <a:avLst>
              <a:gd name="adj" fmla="val 16667"/>
            </a:avLst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675120" y="17830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4f00"/>
                </a:solidFill>
                <a:uFillTx/>
                <a:latin typeface="Calibri"/>
              </a:rPr>
              <a:t>After automation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675120" y="2148840"/>
            <a:ext cx="4937400" cy="12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Instant logging to a central dataset (Sheets)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Automatic confirmation emails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Exception alerts (e.g., low scores) in Slack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Repeatable workflow + easier compliance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Who Uses Process Automation?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1) Describe the technology area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f2937"/>
                </a:solidFill>
                <a:uFillTx/>
                <a:latin typeface="Calibri"/>
              </a:rPr>
              <a:t>Typical users and stakeholders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914400" y="1600200"/>
            <a:ext cx="10972440" cy="18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Business analysts / process designers (design workflows and rules)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Operations and customer support teams (handoffs, ticket routing)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Sales/marketing teams (lead capture and follow-up)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IT/engineering (governance, security, advanced integrations)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Managers (dashboards, auditability, exception management)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914400" y="4892040"/>
            <a:ext cx="10972440" cy="16455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1097280" y="5074920"/>
            <a:ext cx="10606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334155"/>
                </a:solidFill>
                <a:uFillTx/>
                <a:latin typeface="Calibri"/>
              </a:rPr>
              <a:t>Business perspective (required for this course): focus on operational value, security, and scale — not “cool consumer tricks.”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Vendor Overview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2) Vendor overview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f2937"/>
                </a:solidFill>
                <a:uFillTx/>
                <a:latin typeface="Calibri"/>
              </a:rPr>
              <a:t>Zapier (workflow automation platform)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914400" y="1554480"/>
            <a:ext cx="109724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Large integration ecosystem (7,000+ apps listed on Zapier).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No-code builder for multi-step automations (Zaps) with filters, branching (Paths), and formatting.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Practical for business ops: notifications, approvals, data sync, and exception routing.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914400" y="4251960"/>
            <a:ext cx="10972440" cy="2102760"/>
          </a:xfrm>
          <a:prstGeom prst="roundRect">
            <a:avLst>
              <a:gd name="adj" fmla="val 16667"/>
            </a:avLst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1143000" y="443484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4f00"/>
                </a:solidFill>
                <a:uFillTx/>
                <a:latin typeface="Calibri"/>
              </a:rPr>
              <a:t>Why Zapier for this Tech Tut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1143000" y="4773240"/>
            <a:ext cx="1051524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Fast to prototype a realistic workflow for the team project.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Works well with Google Workspace and Slack (common student/team tooling).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3480" indent="-21348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Easy to demo live in 20 minutes with visible field mapping and test results.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Feasibility (Cost &amp; Access)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Usefulness: feasibility / low-cost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f2937"/>
                </a:solidFill>
                <a:uFillTx/>
                <a:latin typeface="Calibri"/>
              </a:rPr>
              <a:t>Plan considerations (class project)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914400" y="1600200"/>
            <a:ext cx="10972440" cy="15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Start on the free plan for setup and early testing.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Track “tasks” usage — each action step that successfully runs typically consumes tasks.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For demos, keep workflows small (3–5 steps) and limit test runs to avoid hitting limits.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If premium connectors are required, document the constraint and provide an alternative path.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914400" y="4754880"/>
            <a:ext cx="10972440" cy="178272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1097280" y="4983480"/>
            <a:ext cx="10606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334155"/>
                </a:solidFill>
                <a:uFillTx/>
                <a:latin typeface="Calibri"/>
              </a:rPr>
              <a:t>Important: Verify today’s limits/prices on the official pricing page before you record your video.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Competitors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2) Competitors comparison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f2937"/>
                </a:solidFill>
                <a:uFillTx/>
                <a:latin typeface="Calibri"/>
              </a:rPr>
              <a:t>Major competitors in workflow automation / iPaaS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914400" y="1645920"/>
            <a:ext cx="10972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Make (formerly Integromat) — visual scenario builder, strong routing/transformations.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Microsoft Power Automate — best fit when an org is already in Microsoft 365 / Power Platform.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Workato, Tray.ai — enterprise iPaaS (governance, scale, advanced features).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n8n — source-available, self-hosting option for technical teams.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IFTTT — simpler “applet” style automations (stronger in consumer/IoT).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Competitor Feature Comparison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2) Tabulate competitor differences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2937"/>
                </a:solidFill>
                <a:uFillTx/>
                <a:latin typeface="Calibri"/>
              </a:rPr>
              <a:t>High-level comparison (business analyst lens)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548640" y="1508760"/>
            <a:ext cx="2057040" cy="4111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621720" y="1581840"/>
            <a:ext cx="1910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</a:rPr>
              <a:t>Platform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2606040" y="1508760"/>
            <a:ext cx="1828440" cy="4111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2679120" y="1581840"/>
            <a:ext cx="168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</a:rPr>
              <a:t>Best for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4434840" y="1508760"/>
            <a:ext cx="1828440" cy="4111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4507920" y="1581840"/>
            <a:ext cx="168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</a:rPr>
              <a:t>Strengths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Shape 13"/>
          <p:cNvSpPr/>
          <p:nvPr/>
        </p:nvSpPr>
        <p:spPr>
          <a:xfrm>
            <a:off x="6263640" y="1508760"/>
            <a:ext cx="1828440" cy="4111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6336720" y="1581840"/>
            <a:ext cx="168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</a:rPr>
              <a:t>Limitations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8092440" y="1508760"/>
            <a:ext cx="1828440" cy="4111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8165520" y="1581840"/>
            <a:ext cx="168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</a:rPr>
              <a:t>Pricing model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Shape 17"/>
          <p:cNvSpPr/>
          <p:nvPr/>
        </p:nvSpPr>
        <p:spPr>
          <a:xfrm>
            <a:off x="9921240" y="1508760"/>
            <a:ext cx="1691280" cy="411120"/>
          </a:xfrm>
          <a:prstGeom prst="rect">
            <a:avLst/>
          </a:prstGeom>
          <a:solidFill>
            <a:srgbClr val="ff4f00"/>
          </a:solidFill>
          <a:ln w="126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Text 18"/>
          <p:cNvSpPr/>
          <p:nvPr/>
        </p:nvSpPr>
        <p:spPr>
          <a:xfrm>
            <a:off x="9994320" y="1581840"/>
            <a:ext cx="154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</a:rPr>
              <a:t>Notes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548640" y="1920240"/>
            <a:ext cx="20570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621720" y="1993320"/>
            <a:ext cx="19108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Zapier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Shape 21"/>
          <p:cNvSpPr/>
          <p:nvPr/>
        </p:nvSpPr>
        <p:spPr>
          <a:xfrm>
            <a:off x="2606040" y="192024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2679120" y="1993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Business ops teams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4434840" y="192024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4507920" y="1993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Fast setup; huge app ecosystem; easy demo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Shape 25"/>
          <p:cNvSpPr/>
          <p:nvPr/>
        </p:nvSpPr>
        <p:spPr>
          <a:xfrm>
            <a:off x="6263640" y="192024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 26"/>
          <p:cNvSpPr/>
          <p:nvPr/>
        </p:nvSpPr>
        <p:spPr>
          <a:xfrm>
            <a:off x="6336720" y="1993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Costs scale with tasks; some advanced logic limited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8092440" y="192024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8165520" y="1993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Tasks/month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Shape 29"/>
          <p:cNvSpPr/>
          <p:nvPr/>
        </p:nvSpPr>
        <p:spPr>
          <a:xfrm>
            <a:off x="9921240" y="1920240"/>
            <a:ext cx="169128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 30"/>
          <p:cNvSpPr/>
          <p:nvPr/>
        </p:nvSpPr>
        <p:spPr>
          <a:xfrm>
            <a:off x="9994320" y="1993320"/>
            <a:ext cx="1545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7,000+ apps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Shape 31"/>
          <p:cNvSpPr/>
          <p:nvPr/>
        </p:nvSpPr>
        <p:spPr>
          <a:xfrm>
            <a:off x="548640" y="2682360"/>
            <a:ext cx="20570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Text 32"/>
          <p:cNvSpPr/>
          <p:nvPr/>
        </p:nvSpPr>
        <p:spPr>
          <a:xfrm>
            <a:off x="621720" y="2755440"/>
            <a:ext cx="19108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Make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Shape 33"/>
          <p:cNvSpPr/>
          <p:nvPr/>
        </p:nvSpPr>
        <p:spPr>
          <a:xfrm>
            <a:off x="2606040" y="268236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 34"/>
          <p:cNvSpPr/>
          <p:nvPr/>
        </p:nvSpPr>
        <p:spPr>
          <a:xfrm>
            <a:off x="2679120" y="2755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Complex workflows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Shape 35"/>
          <p:cNvSpPr/>
          <p:nvPr/>
        </p:nvSpPr>
        <p:spPr>
          <a:xfrm>
            <a:off x="4434840" y="268236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 36"/>
          <p:cNvSpPr/>
          <p:nvPr/>
        </p:nvSpPr>
        <p:spPr>
          <a:xfrm>
            <a:off x="4507920" y="2755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Visual scenarios; routers/filters; data transforms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Shape 37"/>
          <p:cNvSpPr/>
          <p:nvPr/>
        </p:nvSpPr>
        <p:spPr>
          <a:xfrm>
            <a:off x="6263640" y="268236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 38"/>
          <p:cNvSpPr/>
          <p:nvPr/>
        </p:nvSpPr>
        <p:spPr>
          <a:xfrm>
            <a:off x="6336720" y="2755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Ops count can rise quickly; learning curve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Shape 39"/>
          <p:cNvSpPr/>
          <p:nvPr/>
        </p:nvSpPr>
        <p:spPr>
          <a:xfrm>
            <a:off x="8092440" y="268236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 40"/>
          <p:cNvSpPr/>
          <p:nvPr/>
        </p:nvSpPr>
        <p:spPr>
          <a:xfrm>
            <a:off x="8165520" y="2755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Operations/credits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Shape 41"/>
          <p:cNvSpPr/>
          <p:nvPr/>
        </p:nvSpPr>
        <p:spPr>
          <a:xfrm>
            <a:off x="9921240" y="2682360"/>
            <a:ext cx="169128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 42"/>
          <p:cNvSpPr/>
          <p:nvPr/>
        </p:nvSpPr>
        <p:spPr>
          <a:xfrm>
            <a:off x="9994320" y="2755440"/>
            <a:ext cx="1545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3,000+ apps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Shape 43"/>
          <p:cNvSpPr/>
          <p:nvPr/>
        </p:nvSpPr>
        <p:spPr>
          <a:xfrm>
            <a:off x="548640" y="3444120"/>
            <a:ext cx="20570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 44"/>
          <p:cNvSpPr/>
          <p:nvPr/>
        </p:nvSpPr>
        <p:spPr>
          <a:xfrm>
            <a:off x="621720" y="3517560"/>
            <a:ext cx="19108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Power Automate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Shape 45"/>
          <p:cNvSpPr/>
          <p:nvPr/>
        </p:nvSpPr>
        <p:spPr>
          <a:xfrm>
            <a:off x="2606040" y="344412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 46"/>
          <p:cNvSpPr/>
          <p:nvPr/>
        </p:nvSpPr>
        <p:spPr>
          <a:xfrm>
            <a:off x="2679120" y="3517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Microsoft orgs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Shape 47"/>
          <p:cNvSpPr/>
          <p:nvPr/>
        </p:nvSpPr>
        <p:spPr>
          <a:xfrm>
            <a:off x="4434840" y="344412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 48"/>
          <p:cNvSpPr/>
          <p:nvPr/>
        </p:nvSpPr>
        <p:spPr>
          <a:xfrm>
            <a:off x="4507920" y="3517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M365 integration; RPA + process mining options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Shape 49"/>
          <p:cNvSpPr/>
          <p:nvPr/>
        </p:nvSpPr>
        <p:spPr>
          <a:xfrm>
            <a:off x="6263640" y="344412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 50"/>
          <p:cNvSpPr/>
          <p:nvPr/>
        </p:nvSpPr>
        <p:spPr>
          <a:xfrm>
            <a:off x="6336720" y="3517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Premium connectors/licensing complexity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Shape 51"/>
          <p:cNvSpPr/>
          <p:nvPr/>
        </p:nvSpPr>
        <p:spPr>
          <a:xfrm>
            <a:off x="8092440" y="344412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 52"/>
          <p:cNvSpPr/>
          <p:nvPr/>
        </p:nvSpPr>
        <p:spPr>
          <a:xfrm>
            <a:off x="8165520" y="3517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Per user / capacity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Shape 53"/>
          <p:cNvSpPr/>
          <p:nvPr/>
        </p:nvSpPr>
        <p:spPr>
          <a:xfrm>
            <a:off x="9921240" y="3444120"/>
            <a:ext cx="169128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 54"/>
          <p:cNvSpPr/>
          <p:nvPr/>
        </p:nvSpPr>
        <p:spPr>
          <a:xfrm>
            <a:off x="9994320" y="3517560"/>
            <a:ext cx="1545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Strong governance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Shape 55"/>
          <p:cNvSpPr/>
          <p:nvPr/>
        </p:nvSpPr>
        <p:spPr>
          <a:xfrm>
            <a:off x="548640" y="4206240"/>
            <a:ext cx="20570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Text 56"/>
          <p:cNvSpPr/>
          <p:nvPr/>
        </p:nvSpPr>
        <p:spPr>
          <a:xfrm>
            <a:off x="621720" y="4279320"/>
            <a:ext cx="19108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Workato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hape 57"/>
          <p:cNvSpPr/>
          <p:nvPr/>
        </p:nvSpPr>
        <p:spPr>
          <a:xfrm>
            <a:off x="2606040" y="420624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 58"/>
          <p:cNvSpPr/>
          <p:nvPr/>
        </p:nvSpPr>
        <p:spPr>
          <a:xfrm>
            <a:off x="2679120" y="4279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Enterprise iPaaS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Shape 59"/>
          <p:cNvSpPr/>
          <p:nvPr/>
        </p:nvSpPr>
        <p:spPr>
          <a:xfrm>
            <a:off x="4434840" y="420624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 60"/>
          <p:cNvSpPr/>
          <p:nvPr/>
        </p:nvSpPr>
        <p:spPr>
          <a:xfrm>
            <a:off x="4507920" y="4279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Scale + governance; enterprise connectors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Shape 61"/>
          <p:cNvSpPr/>
          <p:nvPr/>
        </p:nvSpPr>
        <p:spPr>
          <a:xfrm>
            <a:off x="6263640" y="420624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Text 62"/>
          <p:cNvSpPr/>
          <p:nvPr/>
        </p:nvSpPr>
        <p:spPr>
          <a:xfrm>
            <a:off x="6336720" y="4279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Typically custom / higher cost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Shape 63"/>
          <p:cNvSpPr/>
          <p:nvPr/>
        </p:nvSpPr>
        <p:spPr>
          <a:xfrm>
            <a:off x="8092440" y="420624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Text 64"/>
          <p:cNvSpPr/>
          <p:nvPr/>
        </p:nvSpPr>
        <p:spPr>
          <a:xfrm>
            <a:off x="8165520" y="427932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Usage-based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Shape 65"/>
          <p:cNvSpPr/>
          <p:nvPr/>
        </p:nvSpPr>
        <p:spPr>
          <a:xfrm>
            <a:off x="9921240" y="4206240"/>
            <a:ext cx="169128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 66"/>
          <p:cNvSpPr/>
          <p:nvPr/>
        </p:nvSpPr>
        <p:spPr>
          <a:xfrm>
            <a:off x="9994320" y="4279320"/>
            <a:ext cx="1545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Enterprise focus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Shape 67"/>
          <p:cNvSpPr/>
          <p:nvPr/>
        </p:nvSpPr>
        <p:spPr>
          <a:xfrm>
            <a:off x="548640" y="4968360"/>
            <a:ext cx="20570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Text 68"/>
          <p:cNvSpPr/>
          <p:nvPr/>
        </p:nvSpPr>
        <p:spPr>
          <a:xfrm>
            <a:off x="621720" y="5041440"/>
            <a:ext cx="19108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n8n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Shape 69"/>
          <p:cNvSpPr/>
          <p:nvPr/>
        </p:nvSpPr>
        <p:spPr>
          <a:xfrm>
            <a:off x="2606040" y="496836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Text 70"/>
          <p:cNvSpPr/>
          <p:nvPr/>
        </p:nvSpPr>
        <p:spPr>
          <a:xfrm>
            <a:off x="2679120" y="5041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Technical teams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Shape 71"/>
          <p:cNvSpPr/>
          <p:nvPr/>
        </p:nvSpPr>
        <p:spPr>
          <a:xfrm>
            <a:off x="4434840" y="496836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Text 72"/>
          <p:cNvSpPr/>
          <p:nvPr/>
        </p:nvSpPr>
        <p:spPr>
          <a:xfrm>
            <a:off x="4507920" y="5041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Self-host option; flexible; code-friendly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Shape 73"/>
          <p:cNvSpPr/>
          <p:nvPr/>
        </p:nvSpPr>
        <p:spPr>
          <a:xfrm>
            <a:off x="6263640" y="496836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Text 74"/>
          <p:cNvSpPr/>
          <p:nvPr/>
        </p:nvSpPr>
        <p:spPr>
          <a:xfrm>
            <a:off x="6336720" y="5041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Ops overhead; hosting/security responsibility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Shape 75"/>
          <p:cNvSpPr/>
          <p:nvPr/>
        </p:nvSpPr>
        <p:spPr>
          <a:xfrm>
            <a:off x="8092440" y="4968360"/>
            <a:ext cx="182844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 76"/>
          <p:cNvSpPr/>
          <p:nvPr/>
        </p:nvSpPr>
        <p:spPr>
          <a:xfrm>
            <a:off x="8165520" y="504144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Executions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Shape 77"/>
          <p:cNvSpPr/>
          <p:nvPr/>
        </p:nvSpPr>
        <p:spPr>
          <a:xfrm>
            <a:off x="9921240" y="4968360"/>
            <a:ext cx="1691280" cy="7617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 78"/>
          <p:cNvSpPr/>
          <p:nvPr/>
        </p:nvSpPr>
        <p:spPr>
          <a:xfrm>
            <a:off x="9994320" y="5041440"/>
            <a:ext cx="1545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Source-available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Shape 79"/>
          <p:cNvSpPr/>
          <p:nvPr/>
        </p:nvSpPr>
        <p:spPr>
          <a:xfrm>
            <a:off x="548640" y="5730120"/>
            <a:ext cx="20570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80"/>
          <p:cNvSpPr/>
          <p:nvPr/>
        </p:nvSpPr>
        <p:spPr>
          <a:xfrm>
            <a:off x="621720" y="5803560"/>
            <a:ext cx="19108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IFTTT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Shape 81"/>
          <p:cNvSpPr/>
          <p:nvPr/>
        </p:nvSpPr>
        <p:spPr>
          <a:xfrm>
            <a:off x="2606040" y="573012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Text 82"/>
          <p:cNvSpPr/>
          <p:nvPr/>
        </p:nvSpPr>
        <p:spPr>
          <a:xfrm>
            <a:off x="2679120" y="5803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Consumer/IoT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Shape 83"/>
          <p:cNvSpPr/>
          <p:nvPr/>
        </p:nvSpPr>
        <p:spPr>
          <a:xfrm>
            <a:off x="4434840" y="573012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Text 84"/>
          <p:cNvSpPr/>
          <p:nvPr/>
        </p:nvSpPr>
        <p:spPr>
          <a:xfrm>
            <a:off x="4507920" y="5803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Simple applets; smart-home coverage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Shape 85"/>
          <p:cNvSpPr/>
          <p:nvPr/>
        </p:nvSpPr>
        <p:spPr>
          <a:xfrm>
            <a:off x="6263640" y="573012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 86"/>
          <p:cNvSpPr/>
          <p:nvPr/>
        </p:nvSpPr>
        <p:spPr>
          <a:xfrm>
            <a:off x="6336720" y="5803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Less business depth; fewer team controls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Shape 87"/>
          <p:cNvSpPr/>
          <p:nvPr/>
        </p:nvSpPr>
        <p:spPr>
          <a:xfrm>
            <a:off x="8092440" y="5730120"/>
            <a:ext cx="182844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Text 88"/>
          <p:cNvSpPr/>
          <p:nvPr/>
        </p:nvSpPr>
        <p:spPr>
          <a:xfrm>
            <a:off x="8165520" y="5803560"/>
            <a:ext cx="168228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Subscription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Shape 89"/>
          <p:cNvSpPr/>
          <p:nvPr/>
        </p:nvSpPr>
        <p:spPr>
          <a:xfrm>
            <a:off x="9921240" y="5730120"/>
            <a:ext cx="1691280" cy="7617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 90"/>
          <p:cNvSpPr/>
          <p:nvPr/>
        </p:nvSpPr>
        <p:spPr>
          <a:xfrm>
            <a:off x="9994320" y="5803560"/>
            <a:ext cx="1545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f2937"/>
                </a:solidFill>
                <a:uFillTx/>
                <a:latin typeface="Calibri"/>
              </a:rPr>
              <a:t>~900 apps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Business Case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Novel example case (team project aligned)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f2937"/>
                </a:solidFill>
                <a:uFillTx/>
                <a:latin typeface="Calibri"/>
              </a:rPr>
              <a:t>Novel example case: Peer Evaluation System (SMU)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914400" y="1600200"/>
            <a:ext cx="10972440" cy="15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Students submit peer evaluations weekly via a form.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Automation logs responses into a clean dataset for analytics and accountability.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Automatic confirmations reduce “did you get my submission?” questions.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Exception routing: alert staff if a score is below a threshold or a comment flags concern.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Shape 8"/>
          <p:cNvSpPr/>
          <p:nvPr/>
        </p:nvSpPr>
        <p:spPr>
          <a:xfrm>
            <a:off x="914400" y="4800600"/>
            <a:ext cx="10972440" cy="169128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1097280" y="5010840"/>
            <a:ext cx="10606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Business value: fewer manual steps, faster follow-up, cleaner data for dashboards, and a repeatable process with an audit trail.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Solution Architecture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How apps connect in the workflow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2937"/>
                </a:solidFill>
                <a:uFillTx/>
                <a:latin typeface="Calibri"/>
              </a:rPr>
              <a:t>Automation flow (high-level)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822960" y="1828800"/>
            <a:ext cx="292572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960120" y="199332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Google Forms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937"/>
                </a:solidFill>
                <a:uFillTx/>
                <a:latin typeface="Calibri"/>
              </a:rPr>
              <a:t>(collect evals)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4160520" y="1828800"/>
            <a:ext cx="2925720" cy="914040"/>
          </a:xfrm>
          <a:prstGeom prst="roundRect">
            <a:avLst>
              <a:gd name="adj" fmla="val 16667"/>
            </a:avLst>
          </a:prstGeom>
          <a:solidFill>
            <a:srgbClr val="fff3e6"/>
          </a:solidFill>
          <a:ln w="12600">
            <a:solidFill>
              <a:srgbClr val="e5e7eb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4297680" y="201168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4f00"/>
                </a:solidFill>
                <a:uFillTx/>
                <a:latin typeface="Calibri"/>
              </a:rPr>
              <a:t>Zapier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4f00"/>
                </a:solidFill>
                <a:uFillTx/>
                <a:latin typeface="Calibri"/>
              </a:rPr>
              <a:t>(workflow)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7498080" y="1417320"/>
            <a:ext cx="3840120" cy="822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7635240" y="157284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uFillTx/>
                <a:latin typeface="Calibri"/>
              </a:rPr>
              <a:t>Google Sheets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uFillTx/>
                <a:latin typeface="Calibri"/>
              </a:rPr>
              <a:t>(log dataset)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7498080" y="2514600"/>
            <a:ext cx="3840120" cy="822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7635240" y="267012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uFillTx/>
                <a:latin typeface="Calibri"/>
              </a:rPr>
              <a:t>Gmail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uFillTx/>
                <a:latin typeface="Calibri"/>
              </a:rPr>
              <a:t>(confirm submission)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Shape 15"/>
          <p:cNvSpPr/>
          <p:nvPr/>
        </p:nvSpPr>
        <p:spPr>
          <a:xfrm>
            <a:off x="7498080" y="3611880"/>
            <a:ext cx="3840120" cy="8226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  <a:effectLst>
            <a:outerShdw dist="12218" dir="2700000" blurRad="25560" rotWithShape="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7635240" y="3767400"/>
            <a:ext cx="3565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uFillTx/>
                <a:latin typeface="Calibri"/>
              </a:rPr>
              <a:t>Slack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937"/>
                </a:solidFill>
                <a:uFillTx/>
                <a:latin typeface="Calibri"/>
              </a:rPr>
              <a:t>(alert exceptions)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3794760" y="2057400"/>
            <a:ext cx="31968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7150680" y="2057400"/>
            <a:ext cx="31968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Shape 19"/>
          <p:cNvSpPr/>
          <p:nvPr/>
        </p:nvSpPr>
        <p:spPr>
          <a:xfrm>
            <a:off x="9144000" y="2240280"/>
            <a:ext cx="50256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Shape 20"/>
          <p:cNvSpPr/>
          <p:nvPr/>
        </p:nvSpPr>
        <p:spPr>
          <a:xfrm>
            <a:off x="9144000" y="3337560"/>
            <a:ext cx="50256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5e7eb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822960" y="4846320"/>
            <a:ext cx="11338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334155"/>
                </a:solidFill>
                <a:uFillTx/>
                <a:latin typeface="Calibri"/>
              </a:rPr>
              <a:t>Trigger uses the Google Form response sheet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334155"/>
                </a:solidFill>
                <a:uFillTx/>
                <a:latin typeface="Calibri"/>
              </a:rPr>
              <a:t>(Zapier watches for new rows).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Live Demo: What You Will Show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Video requirement: slides + live demo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2937"/>
                </a:solidFill>
                <a:uFillTx/>
                <a:latin typeface="Calibri"/>
              </a:rPr>
              <a:t>Demo checklist (aim: 6 required actions)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914400" y="1600200"/>
            <a:ext cx="10972440" cy="48002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1143000" y="1828800"/>
            <a:ext cx="10515240" cy="21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Create / sign in to Zapier account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Show integrations directory (Google Sheets, Gmail, Slack)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Connect your Google account + Slack workspace (OAuth screens)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Build a new Zap: Trigger = “New Spreadsheet Row” (Form responses)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Add actions: (1) Append row to log sheet, (2) Send Gmail confirmation, (3) Slack alert if low score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Test live: submit a new form response and verify all destinations updated correctly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Edit Zap: change threshold, add a new field mapping, or add a formatting step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Step 1 — Create Account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4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Process Designer required actions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960120" y="1234440"/>
            <a:ext cx="11109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Go to zapier.com and create a free account (or sign in).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Confirm email if required.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Open the Zapier dashboard (Home).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Screenshot needed: account dashboard (show your initials/avatar).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1005840" y="5715000"/>
            <a:ext cx="11063880" cy="68544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1188720" y="58705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f2937"/>
                </a:solidFill>
                <a:uFillTx/>
                <a:latin typeface="Calibri"/>
              </a:rPr>
              <a:t>TIP: In your Word doc screenshots, highlight where to click/type (red box or yellow highlight).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Step 2 — View Available Integrations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Process Designer required actions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960120" y="1234440"/>
            <a:ext cx="11109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Open the App Directory and search for Google Sheets, Gmail, and Slack.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Confirm each app supports the trigger/action you need.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Screenshot needed: App Directory results for each app.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1005840" y="5715000"/>
            <a:ext cx="11063880" cy="68544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1188720" y="58705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f2937"/>
                </a:solidFill>
                <a:uFillTx/>
                <a:latin typeface="Calibri"/>
              </a:rPr>
              <a:t>TIP: In your Word doc screenshots, highlight where to click/type (red box or yellow highlight).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Step 3 — Connect 3rd-Party Accounts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Process Designer required actions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960120" y="1234440"/>
            <a:ext cx="11109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From “My apps” (or during Zap setup), connect your Google account.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Connect Slack and authorize required scopes.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Use least privilege: only the data needed for this workflow.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Screenshot needed: “Connected accounts / My apps” page.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1005840" y="5715000"/>
            <a:ext cx="11063880" cy="68544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1188720" y="58705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f2937"/>
                </a:solidFill>
                <a:uFillTx/>
                <a:latin typeface="Calibri"/>
              </a:rPr>
              <a:t>TIP: In your Word doc screenshots, highlight where to click/type (red box or yellow highlight).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Step 4 — Configure New Automation (Zap)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Process Designer required actions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960120" y="1234440"/>
            <a:ext cx="11109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Trigger: Google Sheets → “New Spreadsheet Row” on the Form Responses sheet.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Action 1: Google Sheets → “Create Spreadsheet Row” in a clean “PeerEvals_Log” sheet.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Action 2: Gmail → “Send Email” confirmation to the rater.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Action 3: Slack → “Send Channel Message” if low score OR flagged.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Screenshot needed: trigger setup + each action step mapping screen.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Shape 7"/>
          <p:cNvSpPr/>
          <p:nvPr/>
        </p:nvSpPr>
        <p:spPr>
          <a:xfrm>
            <a:off x="1005840" y="5715000"/>
            <a:ext cx="11063880" cy="68544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1188720" y="58705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f2937"/>
                </a:solidFill>
                <a:uFillTx/>
                <a:latin typeface="Calibri"/>
              </a:rPr>
              <a:t>TIP: In your Word doc screenshots, highlight where to click/type (red box or yellow highlight).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Step 5 — Test Live (Field Mapping Proof)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Process Designer required actions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960120" y="1234440"/>
            <a:ext cx="11109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Submit a new form response (use a real test email).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Verify: (1) new row appears in PeerEvals_Log, (2) email delivered, (3) Slack alert when condition met.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Screenshot needed: Zapier “Test” output + destination evidence (Sheets row, email, Slack message).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1005840" y="5715000"/>
            <a:ext cx="11063880" cy="68544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Text 8"/>
          <p:cNvSpPr/>
          <p:nvPr/>
        </p:nvSpPr>
        <p:spPr>
          <a:xfrm>
            <a:off x="1188720" y="58705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f2937"/>
                </a:solidFill>
                <a:uFillTx/>
                <a:latin typeface="Calibri"/>
              </a:rPr>
              <a:t>TIP: In your Word doc screenshots, highlight where to click/type (red box or yellow highlight).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Step 6 — Edit Existing Automation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Process Designer required actions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Text 6"/>
          <p:cNvSpPr/>
          <p:nvPr/>
        </p:nvSpPr>
        <p:spPr>
          <a:xfrm>
            <a:off x="960120" y="1234440"/>
            <a:ext cx="11109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Edit the Slack threshold (e.g., &lt;= 2.5 → &lt;= 3.0).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Add one improvement: deduping, formatting, or an additional notification.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Re-test and document the before/after change.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74320" indent="-2743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f2937"/>
                </a:solidFill>
                <a:uFillTx/>
                <a:latin typeface="Calibri"/>
              </a:rPr>
              <a:t>Screenshot needed: edit screen showing updated logic.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Shape 7"/>
          <p:cNvSpPr/>
          <p:nvPr/>
        </p:nvSpPr>
        <p:spPr>
          <a:xfrm>
            <a:off x="1005840" y="5715000"/>
            <a:ext cx="11063880" cy="685440"/>
          </a:xfrm>
          <a:prstGeom prst="rect">
            <a:avLst/>
          </a:prstGeom>
          <a:solidFill>
            <a:srgbClr val="fff3e6"/>
          </a:solidFill>
          <a:ln w="12600">
            <a:solidFill>
              <a:srgbClr val="ff4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Text 8"/>
          <p:cNvSpPr/>
          <p:nvPr/>
        </p:nvSpPr>
        <p:spPr>
          <a:xfrm>
            <a:off x="1188720" y="58705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f2937"/>
                </a:solidFill>
                <a:uFillTx/>
                <a:latin typeface="Calibri"/>
              </a:rPr>
              <a:t>TIP: In your Word doc screenshots, highlight where to click/type (red box or yellow highlight).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Operations: Security, Reliability, Governance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Business perspective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2937"/>
                </a:solidFill>
                <a:uFillTx/>
                <a:latin typeface="Calibri"/>
              </a:rPr>
              <a:t>What a business analyst should document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914400" y="1600200"/>
            <a:ext cx="10972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Access control: use least privilege for Google/Slack accounts; document who owns the Zap.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Data handling: what fields are transferred and where they are stored (Sheets tab names).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Monitoring: where to see task history, failures, and replays.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Error handling: what happens if an email fails or Slack is unavailable (retry/alert plan).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Change management: version notes when you edit the bot.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Integration With the Team Project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Usefulness: integration/compatibility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2937"/>
                </a:solidFill>
                <a:uFillTx/>
                <a:latin typeface="Calibri"/>
              </a:rPr>
              <a:t>How this supports the overall system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Text 7"/>
          <p:cNvSpPr/>
          <p:nvPr/>
        </p:nvSpPr>
        <p:spPr>
          <a:xfrm>
            <a:off x="914400" y="1600200"/>
            <a:ext cx="10972440" cy="14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Data Manager: use the generated log sheet as a datasource (or export CSV to the team database).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Business Analytics: connect dashboard tool to the log sheet for KPIs (completion rate, exceptions).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Developer: use the same schema/fields to sync into the app database later.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Project Manager: Slack alerts can create tasks for follow-up (optional extension).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Shape 8"/>
          <p:cNvSpPr/>
          <p:nvPr/>
        </p:nvSpPr>
        <p:spPr>
          <a:xfrm>
            <a:off x="914400" y="4983480"/>
            <a:ext cx="10972440" cy="150840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1097280" y="516636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334155"/>
                </a:solidFill>
                <a:uFillTx/>
                <a:latin typeface="Calibri"/>
              </a:rPr>
              <a:t>Deliverable for teammates: share the dataset schema + the connection link to the log sheet (and any API keys if used).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0" y="0"/>
            <a:ext cx="12191400" cy="502560"/>
          </a:xfrm>
          <a:prstGeom prst="rect">
            <a:avLst/>
          </a:prstGeom>
          <a:solidFill>
            <a:srgbClr val="ffffff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411480" y="1098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4f00"/>
                </a:solidFill>
                <a:uFillTx/>
                <a:latin typeface="Calibri"/>
                <a:ea typeface="Calibri"/>
              </a:rPr>
              <a:t>zapier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5" name="Text 2"/>
          <p:cNvSpPr/>
          <p:nvPr/>
        </p:nvSpPr>
        <p:spPr>
          <a:xfrm>
            <a:off x="2331720" y="137160"/>
            <a:ext cx="9448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f2937"/>
                </a:solidFill>
                <a:uFillTx/>
                <a:latin typeface="Calibri"/>
                <a:ea typeface="Calibri"/>
              </a:rPr>
              <a:t>Best Additional Tutorial Materials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Shape 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Text 4"/>
          <p:cNvSpPr/>
          <p:nvPr/>
        </p:nvSpPr>
        <p:spPr>
          <a:xfrm>
            <a:off x="411480" y="660204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4) Additional materials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9144000" y="660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334155"/>
                </a:solidFill>
                <a:uFillTx/>
                <a:latin typeface="Calibri"/>
              </a:rPr>
              <a:t>BIT 4454 | Winter 2025/26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777240" y="8686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f2937"/>
                </a:solidFill>
                <a:uFillTx/>
                <a:latin typeface="Calibri"/>
              </a:rPr>
              <a:t>Online tutorials (start here)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Text 7"/>
          <p:cNvSpPr/>
          <p:nvPr/>
        </p:nvSpPr>
        <p:spPr>
          <a:xfrm>
            <a:off x="914400" y="1600200"/>
            <a:ext cx="1097244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440" rIns="1440" tIns="1440" bIns="1440" anchor="t">
            <a:noAutofit/>
          </a:bodyPr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Zapier Getting Started + Help Center (official)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Zapier “Google Sheets” integration docs (official)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Zapier “Slack” integration docs (official)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Zapier “Gmail” integration docs (official)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3720" indent="-24372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1f2937"/>
                </a:solidFill>
                <a:uFillTx/>
                <a:latin typeface="Calibri"/>
              </a:rPr>
              <a:t>Microsoft Learn: Power Automate licensing (for competitor understanding)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Shape 8"/>
          <p:cNvSpPr/>
          <p:nvPr/>
        </p:nvSpPr>
        <p:spPr>
          <a:xfrm>
            <a:off x="914400" y="4892040"/>
            <a:ext cx="10972440" cy="1645560"/>
          </a:xfrm>
          <a:prstGeom prst="rect">
            <a:avLst/>
          </a:prstGeom>
          <a:solidFill>
            <a:srgbClr val="f8fafc"/>
          </a:solidFill>
          <a:ln w="126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1097280" y="510228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334155"/>
                </a:solidFill>
                <a:uFillTx/>
                <a:latin typeface="Calibri"/>
              </a:rPr>
              <a:t>Include these URLs (and any books you used) in the Word document’s “Additional Materials” section.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4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0" y="2377440"/>
            <a:ext cx="1219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trike="noStrike" u="none">
                <a:solidFill>
                  <a:srgbClr val="ffffff"/>
                </a:solidFill>
                <a:uFillTx/>
                <a:latin typeface="Calibri"/>
              </a:rPr>
              <a:t>Q&amp;A</a:t>
            </a:r>
            <a:endParaRPr b="0" lang="en-US" sz="6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0" y="34747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uFillTx/>
                <a:latin typeface="Calibri"/>
              </a:rPr>
              <a:t>Thanks! (Remember to show your live test results in the video.)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2480</TotalTime>
  <Application>LibreOffice/24.8.0.3$Windows_X86_64 LibreOffice_project/0bdf1299c94fe897b119f97f3c613e9dca6be583</Application>
  <AppVersion>15.0000</AppVersion>
  <Company>Virginia Tech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2026-01-08T20:50:29Z</dcterms:created>
  <dc:creator>Anthony Bible (template generated)</dc:creator>
  <dc:description/>
  <dc:language>en-US</dc:language>
  <cp:lastModifiedBy/>
  <dcterms:modified xsi:type="dcterms:W3CDTF">2026-01-15T16:02:10Z</dcterms:modified>
  <cp:revision>3</cp:revision>
  <dc:subject>BIT 4454 Tech Tut (Process Designer)</dc:subject>
  <dc:title>Tech Tut — Process Automation with Zapier (Peer Evaluation System)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